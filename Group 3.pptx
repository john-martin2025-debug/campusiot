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x Gyre Bonum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Cooper Hewitt" charset="1" panose="00000000000000000000"/>
      <p:regular r:id="rId21"/>
    </p:embeddedFont>
    <p:embeddedFont>
      <p:font typeface="Cooper Hewitt Bold" charset="1" panose="00000000000000000000"/>
      <p:regular r:id="rId22"/>
    </p:embeddedFont>
    <p:embeddedFont>
      <p:font typeface="Open Sauce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6860" y="0"/>
            <a:ext cx="6581140" cy="10287000"/>
            <a:chOff x="0" y="0"/>
            <a:chExt cx="812800" cy="1270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70490"/>
            </a:xfrm>
            <a:custGeom>
              <a:avLst/>
              <a:gdLst/>
              <a:ahLst/>
              <a:cxnLst/>
              <a:rect r="r" b="b" t="t" l="l"/>
              <a:pathLst>
                <a:path h="1270490" w="812800">
                  <a:moveTo>
                    <a:pt x="27057" y="0"/>
                  </a:moveTo>
                  <a:lnTo>
                    <a:pt x="785743" y="0"/>
                  </a:lnTo>
                  <a:cubicBezTo>
                    <a:pt x="800686" y="0"/>
                    <a:pt x="812800" y="12114"/>
                    <a:pt x="812800" y="27057"/>
                  </a:cubicBezTo>
                  <a:lnTo>
                    <a:pt x="812800" y="1243433"/>
                  </a:lnTo>
                  <a:cubicBezTo>
                    <a:pt x="812800" y="1258376"/>
                    <a:pt x="800686" y="1270490"/>
                    <a:pt x="785743" y="1270490"/>
                  </a:cubicBezTo>
                  <a:lnTo>
                    <a:pt x="27057" y="1270490"/>
                  </a:lnTo>
                  <a:cubicBezTo>
                    <a:pt x="12114" y="1270490"/>
                    <a:pt x="0" y="1258376"/>
                    <a:pt x="0" y="1243433"/>
                  </a:cubicBezTo>
                  <a:lnTo>
                    <a:pt x="0" y="27057"/>
                  </a:lnTo>
                  <a:cubicBezTo>
                    <a:pt x="0" y="12114"/>
                    <a:pt x="12114" y="0"/>
                    <a:pt x="27057" y="0"/>
                  </a:cubicBezTo>
                  <a:close/>
                </a:path>
              </a:pathLst>
            </a:custGeom>
            <a:blipFill>
              <a:blip r:embed="rId2"/>
              <a:stretch>
                <a:fillRect l="-67326" t="0" r="-673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979" y="1200150"/>
            <a:ext cx="11021881" cy="453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1"/>
              </a:lnSpc>
            </a:pPr>
            <a:r>
              <a:rPr lang="en-US" sz="9041" spc="-542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INEFFICIENT CAMPUS </a:t>
            </a:r>
          </a:p>
          <a:p>
            <a:pPr algn="l">
              <a:lnSpc>
                <a:spcPts val="8699"/>
              </a:lnSpc>
            </a:pPr>
            <a:r>
              <a:rPr lang="en-US" sz="8699" spc="-521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RESOURCE MANAGEMENT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3658" y="6274966"/>
            <a:ext cx="456068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9"/>
              </a:lnSpc>
              <a:spcBef>
                <a:spcPct val="0"/>
              </a:spcBef>
            </a:pPr>
            <a:r>
              <a:rPr lang="en-US" b="true" sz="2699" spc="26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3658" y="6829321"/>
            <a:ext cx="4560684" cy="280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John Martin Lijo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 Christopher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Jimmy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Jyothish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Mathew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T Thayyil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6859" y="6429271"/>
            <a:ext cx="7220400" cy="282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P</a:t>
            </a:r>
            <a:r>
              <a:rPr lang="en-US" b="true" sz="39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roposed Engineering &amp; IT Solutions for a Sustainable Campus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737259" y="297180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6990" y="513081"/>
            <a:ext cx="16399765" cy="96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5999" spc="-35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6990" y="1698515"/>
            <a:ext cx="7159930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79799"/>
            <a:ext cx="8036796" cy="530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1780" indent="-355890" lvl="1">
              <a:lnSpc>
                <a:spcPts val="4615"/>
              </a:lnSpc>
              <a:buFont typeface="Arial"/>
              <a:buChar char="•"/>
            </a:pPr>
            <a:r>
              <a:rPr lang="en-US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Unmonitored Unmonitored elect</a:t>
            </a:r>
            <a:r>
              <a:rPr lang="en-US" b="true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ricity and water usage.</a:t>
            </a:r>
          </a:p>
          <a:p>
            <a:pPr algn="l" marL="711780" indent="-355890" lvl="1">
              <a:lnSpc>
                <a:spcPts val="4615"/>
              </a:lnSpc>
              <a:buFont typeface="Arial"/>
              <a:buChar char="•"/>
            </a:pPr>
            <a:r>
              <a:rPr lang="en-US" b="true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Lights/AC operating in unoccupied rooms.</a:t>
            </a:r>
          </a:p>
          <a:p>
            <a:pPr algn="l" marL="711780" indent="-355890" lvl="1">
              <a:lnSpc>
                <a:spcPts val="4615"/>
              </a:lnSpc>
              <a:buFont typeface="Arial"/>
              <a:buChar char="•"/>
            </a:pPr>
            <a:r>
              <a:rPr lang="en-US" b="true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Water leaks may remain undetected.</a:t>
            </a:r>
          </a:p>
          <a:p>
            <a:pPr algn="l" marL="711780" indent="-355890" lvl="1">
              <a:lnSpc>
                <a:spcPts val="4615"/>
              </a:lnSpc>
              <a:buFont typeface="Arial"/>
              <a:buChar char="•"/>
            </a:pPr>
            <a:r>
              <a:rPr lang="en-US" b="true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Manual monitoring is slow and inconsistent.</a:t>
            </a:r>
          </a:p>
          <a:p>
            <a:pPr algn="l" marL="711780" indent="-355890" lvl="1">
              <a:lnSpc>
                <a:spcPts val="46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6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Lack of centralized, real-time resource data.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47409" y="1698515"/>
            <a:ext cx="7411891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RESULTING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36873" y="2679799"/>
            <a:ext cx="7411891" cy="588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Unnecessary res</a:t>
            </a: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ource wastage.</a:t>
            </a:r>
          </a:p>
          <a:p>
            <a:pPr algn="just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Increased operational costs.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Higher environmental impact.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Delayed corrective action.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Difficulty in making data-driven decisions.</a:t>
            </a:r>
          </a:p>
          <a:p>
            <a:pPr algn="just">
              <a:lnSpc>
                <a:spcPts val="46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59535" y="8242707"/>
            <a:ext cx="15796028" cy="124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NEED</a:t>
            </a:r>
            <a:r>
              <a:rPr lang="en-US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: A system that can monitor campus resources continuously, identify inefficient usage, and enable timely corrective action.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11514" y="776923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11514" y="778510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6179" y="601345"/>
            <a:ext cx="1746056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SUSTAINABILITY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6179" y="2086247"/>
            <a:ext cx="8767821" cy="254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 </a:t>
            </a:r>
            <a:r>
              <a:rPr lang="en-US" sz="3999" b="true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SDG 7 (Affordable &amp; Clean Energy)</a:t>
            </a:r>
          </a:p>
          <a:p>
            <a:pPr algn="l" marL="712473" indent="-35623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Promotes efficient energy use.</a:t>
            </a:r>
          </a:p>
          <a:p>
            <a:pPr algn="l" marL="712473" indent="-35623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Reduces unnecessary electricity consumption.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086247"/>
            <a:ext cx="8692748" cy="266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SDG 12</a:t>
            </a:r>
            <a:r>
              <a:rPr lang="en-US" b="true" sz="3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(</a:t>
            </a:r>
            <a:r>
              <a:rPr lang="en-US" b="true" sz="3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Responsible C</a:t>
            </a:r>
            <a:r>
              <a:rPr lang="en-US" b="true" sz="3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onsumption &amp; Production)</a:t>
            </a:r>
          </a:p>
          <a:p>
            <a:pPr algn="l" marL="712473" indent="-356237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Encourages efficient resource use.</a:t>
            </a:r>
          </a:p>
          <a:p>
            <a:pPr algn="l" marL="712473" indent="-35623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Reduces resource wastage.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18144"/>
            <a:ext cx="16230600" cy="124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Overall Goal</a:t>
            </a:r>
            <a:r>
              <a:rPr lang="en-US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: Efficient res</a:t>
            </a:r>
            <a:r>
              <a:rPr lang="en-US" b="true" sz="32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ource management → Reduced wastage → Lower environmental impact.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22553" y="4689928"/>
            <a:ext cx="8767821" cy="336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 </a:t>
            </a:r>
            <a:r>
              <a:rPr lang="en-US" sz="3999" b="true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ISO 14001(Environmental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 Management)</a:t>
            </a:r>
          </a:p>
          <a:p>
            <a:pPr algn="l" marL="712473" indent="-35623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Supports systematic monitoring.</a:t>
            </a:r>
          </a:p>
          <a:p>
            <a:pPr algn="l" marL="712473" indent="-35623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Helps improve environmental performance.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6860" y="0"/>
            <a:ext cx="6581140" cy="10287000"/>
            <a:chOff x="0" y="0"/>
            <a:chExt cx="812800" cy="1270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70490"/>
            </a:xfrm>
            <a:custGeom>
              <a:avLst/>
              <a:gdLst/>
              <a:ahLst/>
              <a:cxnLst/>
              <a:rect r="r" b="b" t="t" l="l"/>
              <a:pathLst>
                <a:path h="1270490" w="812800">
                  <a:moveTo>
                    <a:pt x="27057" y="0"/>
                  </a:moveTo>
                  <a:lnTo>
                    <a:pt x="785743" y="0"/>
                  </a:lnTo>
                  <a:cubicBezTo>
                    <a:pt x="800686" y="0"/>
                    <a:pt x="812800" y="12114"/>
                    <a:pt x="812800" y="27057"/>
                  </a:cubicBezTo>
                  <a:lnTo>
                    <a:pt x="812800" y="1243433"/>
                  </a:lnTo>
                  <a:cubicBezTo>
                    <a:pt x="812800" y="1258376"/>
                    <a:pt x="800686" y="1270490"/>
                    <a:pt x="785743" y="1270490"/>
                  </a:cubicBezTo>
                  <a:lnTo>
                    <a:pt x="27057" y="1270490"/>
                  </a:lnTo>
                  <a:cubicBezTo>
                    <a:pt x="12114" y="1270490"/>
                    <a:pt x="0" y="1258376"/>
                    <a:pt x="0" y="1243433"/>
                  </a:cubicBezTo>
                  <a:lnTo>
                    <a:pt x="0" y="27057"/>
                  </a:lnTo>
                  <a:cubicBezTo>
                    <a:pt x="0" y="12114"/>
                    <a:pt x="12114" y="0"/>
                    <a:pt x="27057" y="0"/>
                  </a:cubicBezTo>
                  <a:close/>
                </a:path>
              </a:pathLst>
            </a:custGeom>
            <a:blipFill>
              <a:blip r:embed="rId2"/>
              <a:stretch>
                <a:fillRect l="-67326" t="0" r="-673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0072" y="3249277"/>
            <a:ext cx="10272829" cy="383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9"/>
              </a:lnSpc>
            </a:pPr>
            <a:r>
              <a:rPr lang="en-US" sz="14789" spc="-887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PROPOSED</a:t>
            </a:r>
          </a:p>
          <a:p>
            <a:pPr algn="l">
              <a:lnSpc>
                <a:spcPts val="14789"/>
              </a:lnSpc>
            </a:pPr>
            <a:r>
              <a:rPr lang="en-US" sz="14789" spc="-887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SOLUTIONS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9593" y="326398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9593" y="326398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080167"/>
            <a:ext cx="5897969" cy="4032951"/>
          </a:xfrm>
          <a:custGeom>
            <a:avLst/>
            <a:gdLst/>
            <a:ahLst/>
            <a:cxnLst/>
            <a:rect r="r" b="b" t="t" l="l"/>
            <a:pathLst>
              <a:path h="4032951" w="5897969">
                <a:moveTo>
                  <a:pt x="0" y="0"/>
                </a:moveTo>
                <a:lnTo>
                  <a:pt x="5897969" y="0"/>
                </a:lnTo>
                <a:lnTo>
                  <a:pt x="5897969" y="4032951"/>
                </a:lnTo>
                <a:lnTo>
                  <a:pt x="0" y="4032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2" r="0" b="-3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16902" y="6123311"/>
            <a:ext cx="7951625" cy="3946664"/>
          </a:xfrm>
          <a:custGeom>
            <a:avLst/>
            <a:gdLst/>
            <a:ahLst/>
            <a:cxnLst/>
            <a:rect r="r" b="b" t="t" l="l"/>
            <a:pathLst>
              <a:path h="3946664" w="7951625">
                <a:moveTo>
                  <a:pt x="0" y="0"/>
                </a:moveTo>
                <a:lnTo>
                  <a:pt x="7951625" y="0"/>
                </a:lnTo>
                <a:lnTo>
                  <a:pt x="7951625" y="3946664"/>
                </a:lnTo>
                <a:lnTo>
                  <a:pt x="0" y="3946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69021"/>
            <a:ext cx="63464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6902" y="2169021"/>
            <a:ext cx="702899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51011"/>
            <a:ext cx="6346488" cy="307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design a centralized campus resource management solution that collects resource-use data through IoT sensors, analyses consumption patterns, and helps identify areas of inefficient resource usage for better decision-making.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6902" y="2851011"/>
            <a:ext cx="7790917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system focuses on selected campus facilities where electricity, water, waste, and occupancy can be monitored. It collects resource-related data, processes it through a centralized platform, and provides a web interface for viewing consumption patterns, resource efficiency, and unusual usage conditions.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77709"/>
            <a:ext cx="16230600" cy="3615968"/>
          </a:xfrm>
          <a:custGeom>
            <a:avLst/>
            <a:gdLst/>
            <a:ahLst/>
            <a:cxnLst/>
            <a:rect r="r" b="b" t="t" l="l"/>
            <a:pathLst>
              <a:path h="3615968" w="16230600">
                <a:moveTo>
                  <a:pt x="0" y="0"/>
                </a:moveTo>
                <a:lnTo>
                  <a:pt x="16230600" y="0"/>
                </a:lnTo>
                <a:lnTo>
                  <a:pt x="16230600" y="3615968"/>
                </a:lnTo>
                <a:lnTo>
                  <a:pt x="0" y="3615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96" r="0" b="-6403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30343"/>
            <a:ext cx="290745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46012" y="2130343"/>
            <a:ext cx="31655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88533"/>
            <a:ext cx="7575425" cy="303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8"/>
              </a:lnSpc>
              <a:spcBef>
                <a:spcPct val="0"/>
              </a:spcBef>
            </a:pPr>
            <a:r>
              <a:rPr lang="en-US" sz="286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develop a smart resource monitoring system that uses sensors and alert mechanisms to identify resource wastage on campus and provide timely information to responsible</a:t>
            </a:r>
            <a:r>
              <a:rPr lang="en-US" sz="286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authorities </a:t>
            </a:r>
            <a:r>
              <a:rPr lang="en-US" sz="286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for appropriate action.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1991" y="2917108"/>
            <a:ext cx="8072667" cy="272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261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system will monitor campus resources such as electricity, water, and classroom occupancy using smart sensors, display real-time information and alerts through a web-based portal, and help responsible authorities take appropriate action to reduce resource wastage.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49408" y="6573781"/>
            <a:ext cx="4059977" cy="3407592"/>
          </a:xfrm>
          <a:custGeom>
            <a:avLst/>
            <a:gdLst/>
            <a:ahLst/>
            <a:cxnLst/>
            <a:rect r="r" b="b" t="t" l="l"/>
            <a:pathLst>
              <a:path h="3407592" w="4059977">
                <a:moveTo>
                  <a:pt x="0" y="0"/>
                </a:moveTo>
                <a:lnTo>
                  <a:pt x="4059976" y="0"/>
                </a:lnTo>
                <a:lnTo>
                  <a:pt x="4059976" y="3407592"/>
                </a:lnTo>
                <a:lnTo>
                  <a:pt x="0" y="340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40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41761"/>
            <a:ext cx="294898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2448" y="2511281"/>
            <a:ext cx="31655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95532"/>
            <a:ext cx="6505640" cy="247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implement a time-based electrical load-shedding system that forcefully curtails post-operational power consumption to eliminate after-hours phantom energy waste.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395532"/>
            <a:ext cx="8007942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Integrating programmable digital timers and heavy-duty electromagnetic relays at the main distribution boards to automatically sever circuit continuity at pre-defined operational deadlines.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55531" y="6464300"/>
            <a:ext cx="7776937" cy="3431227"/>
          </a:xfrm>
          <a:custGeom>
            <a:avLst/>
            <a:gdLst/>
            <a:ahLst/>
            <a:cxnLst/>
            <a:rect r="r" b="b" t="t" l="l"/>
            <a:pathLst>
              <a:path h="3431227" w="7776937">
                <a:moveTo>
                  <a:pt x="0" y="0"/>
                </a:moveTo>
                <a:lnTo>
                  <a:pt x="7776938" y="0"/>
                </a:lnTo>
                <a:lnTo>
                  <a:pt x="7776938" y="3431227"/>
                </a:lnTo>
                <a:lnTo>
                  <a:pt x="0" y="343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03" r="0" b="-11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94100"/>
            <a:ext cx="7342398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eploy an IoT-based predictive resource allocation system that automates campus utility management, eliminates phantom electrical loads and water leaks, and drastically curtails institutional carbon footprint.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41761"/>
            <a:ext cx="734239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32448" y="2541761"/>
            <a:ext cx="316550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SCOPE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594100"/>
            <a:ext cx="7342398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egrating distributed ESP32 microcontrollers, passive infrared occupancy sensors, and digital flow meters to substitute error-prone manual audits with deterministic, automated environmental compliance under ISO 14001.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9899" y="6226624"/>
            <a:ext cx="8682601" cy="3722665"/>
          </a:xfrm>
          <a:custGeom>
            <a:avLst/>
            <a:gdLst/>
            <a:ahLst/>
            <a:cxnLst/>
            <a:rect r="r" b="b" t="t" l="l"/>
            <a:pathLst>
              <a:path h="3722665" w="8682601">
                <a:moveTo>
                  <a:pt x="0" y="0"/>
                </a:moveTo>
                <a:lnTo>
                  <a:pt x="8682601" y="0"/>
                </a:lnTo>
                <a:lnTo>
                  <a:pt x="8682601" y="3722665"/>
                </a:lnTo>
                <a:lnTo>
                  <a:pt x="0" y="3722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6147"/>
            <a:ext cx="7342398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eploy a timetable-synchronized energy management system that automatically powers down HVAC and lighting in unused rooms, puts idle lab computers to sleep, and motivates students through a gamified Eco-Token reward economy, cutting campus energy consumption by 15–20%.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38705"/>
            <a:ext cx="318130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10059" y="2108225"/>
            <a:ext cx="31655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820907"/>
            <a:ext cx="799485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egrating ESP32 edge nodes at building distribution boards, an MQTT and time-series database backend, and a React.js web portal linked to the university timetable API. It covers lecture halls, computer labs and student hostels, and provides automated control, admin dashboards and student token wallets with leaderboards.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6542" y="6486382"/>
            <a:ext cx="4944972" cy="3377696"/>
          </a:xfrm>
          <a:custGeom>
            <a:avLst/>
            <a:gdLst/>
            <a:ahLst/>
            <a:cxnLst/>
            <a:rect r="r" b="b" t="t" l="l"/>
            <a:pathLst>
              <a:path h="3377696" w="4944972">
                <a:moveTo>
                  <a:pt x="0" y="0"/>
                </a:moveTo>
                <a:lnTo>
                  <a:pt x="4944972" y="0"/>
                </a:lnTo>
                <a:lnTo>
                  <a:pt x="4944972" y="3377696"/>
                </a:lnTo>
                <a:lnTo>
                  <a:pt x="0" y="337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6" r="0" b="-43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180033"/>
            <a:ext cx="7342398" cy="3684044"/>
          </a:xfrm>
          <a:custGeom>
            <a:avLst/>
            <a:gdLst/>
            <a:ahLst/>
            <a:cxnLst/>
            <a:rect r="r" b="b" t="t" l="l"/>
            <a:pathLst>
              <a:path h="3684044" w="7342398">
                <a:moveTo>
                  <a:pt x="0" y="0"/>
                </a:moveTo>
                <a:lnTo>
                  <a:pt x="7342398" y="0"/>
                </a:lnTo>
                <a:lnTo>
                  <a:pt x="7342398" y="3684045"/>
                </a:lnTo>
                <a:lnTo>
                  <a:pt x="0" y="3684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6147"/>
            <a:ext cx="7342398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create a smart campus resource-sharing system that identifies underutilized equipment, furniture, laboratory materials, and other assets, and reallocates them to users who need them, reducing unnecessary purchases and resource wastage.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38705"/>
            <a:ext cx="318130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CORE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10059" y="2108225"/>
            <a:ext cx="31655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SYSTEM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2820907"/>
            <a:ext cx="7994851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Integrating a centralized digital inventory with a web/mobile portal for departments and students to list, search, request, reserve, transfer, and return campus resources. A smart matching engine recommends available resources based on requirements, location, availability, and condition, while an administrative dashboard tracks utilization, maintenance, transfers, and cost savings.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72999" y="3001100"/>
            <a:ext cx="6595334" cy="5380738"/>
          </a:xfrm>
          <a:custGeom>
            <a:avLst/>
            <a:gdLst/>
            <a:ahLst/>
            <a:cxnLst/>
            <a:rect r="r" b="b" t="t" l="l"/>
            <a:pathLst>
              <a:path h="5380738" w="6595334">
                <a:moveTo>
                  <a:pt x="0" y="0"/>
                </a:moveTo>
                <a:lnTo>
                  <a:pt x="6595334" y="0"/>
                </a:lnTo>
                <a:lnTo>
                  <a:pt x="6595334" y="5380738"/>
                </a:lnTo>
                <a:lnTo>
                  <a:pt x="0" y="538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39" t="0" r="-83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912821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 which solution did we select?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24493"/>
            <a:ext cx="59702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decided to go with 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4.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46843"/>
            <a:ext cx="584418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has a simple, UI -friendly  design.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69194"/>
            <a:ext cx="885516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uses precise calculation to give the exact answer.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91544"/>
            <a:ext cx="104951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helps reduce water and power wastage by reporting issues.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1258" y="1620395"/>
            <a:ext cx="13985484" cy="7910539"/>
          </a:xfrm>
          <a:custGeom>
            <a:avLst/>
            <a:gdLst/>
            <a:ahLst/>
            <a:cxnLst/>
            <a:rect r="r" b="b" t="t" l="l"/>
            <a:pathLst>
              <a:path h="7910539" w="13985484">
                <a:moveTo>
                  <a:pt x="0" y="0"/>
                </a:moveTo>
                <a:lnTo>
                  <a:pt x="13985484" y="0"/>
                </a:lnTo>
                <a:lnTo>
                  <a:pt x="13985484" y="7910539"/>
                </a:lnTo>
                <a:lnTo>
                  <a:pt x="0" y="7910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4861" y="690563"/>
            <a:ext cx="9128218" cy="7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spc="-35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SCREENSHOT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1514" y="78295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6860" y="0"/>
            <a:ext cx="6581140" cy="10287000"/>
            <a:chOff x="0" y="0"/>
            <a:chExt cx="812800" cy="1270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70490"/>
            </a:xfrm>
            <a:custGeom>
              <a:avLst/>
              <a:gdLst/>
              <a:ahLst/>
              <a:cxnLst/>
              <a:rect r="r" b="b" t="t" l="l"/>
              <a:pathLst>
                <a:path h="1270490" w="812800">
                  <a:moveTo>
                    <a:pt x="27057" y="0"/>
                  </a:moveTo>
                  <a:lnTo>
                    <a:pt x="785743" y="0"/>
                  </a:lnTo>
                  <a:cubicBezTo>
                    <a:pt x="800686" y="0"/>
                    <a:pt x="812800" y="12114"/>
                    <a:pt x="812800" y="27057"/>
                  </a:cubicBezTo>
                  <a:lnTo>
                    <a:pt x="812800" y="1243433"/>
                  </a:lnTo>
                  <a:cubicBezTo>
                    <a:pt x="812800" y="1258376"/>
                    <a:pt x="800686" y="1270490"/>
                    <a:pt x="785743" y="1270490"/>
                  </a:cubicBezTo>
                  <a:lnTo>
                    <a:pt x="27057" y="1270490"/>
                  </a:lnTo>
                  <a:cubicBezTo>
                    <a:pt x="12114" y="1270490"/>
                    <a:pt x="0" y="1258376"/>
                    <a:pt x="0" y="1243433"/>
                  </a:cubicBezTo>
                  <a:lnTo>
                    <a:pt x="0" y="27057"/>
                  </a:lnTo>
                  <a:cubicBezTo>
                    <a:pt x="0" y="12114"/>
                    <a:pt x="12114" y="0"/>
                    <a:pt x="27057" y="0"/>
                  </a:cubicBezTo>
                  <a:close/>
                </a:path>
              </a:pathLst>
            </a:custGeom>
            <a:blipFill>
              <a:blip r:embed="rId2"/>
              <a:stretch>
                <a:fillRect l="-67326" t="0" r="-673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1268" y="2896130"/>
            <a:ext cx="7781362" cy="483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9"/>
              </a:lnSpc>
            </a:pPr>
            <a:r>
              <a:rPr lang="en-US" sz="14999" spc="-899">
                <a:solidFill>
                  <a:srgbClr val="331B0D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THANK YOU</a:t>
            </a:r>
          </a:p>
          <a:p>
            <a:pPr algn="l">
              <a:lnSpc>
                <a:spcPts val="82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863658" y="6274966"/>
            <a:ext cx="456068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9"/>
              </a:lnSpc>
              <a:spcBef>
                <a:spcPct val="0"/>
              </a:spcBef>
            </a:pPr>
            <a:r>
              <a:rPr lang="en-US" b="true" sz="2699" spc="26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3658" y="6829321"/>
            <a:ext cx="4560684" cy="280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John Martin Lijo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 Christopher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Jimmy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Jyothish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Mathew</a:t>
            </a:r>
          </a:p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331B0D"/>
                </a:solidFill>
                <a:latin typeface="Cooper Hewitt"/>
                <a:ea typeface="Cooper Hewitt"/>
                <a:cs typeface="Cooper Hewitt"/>
                <a:sym typeface="Cooper Hewitt"/>
              </a:rPr>
              <a:t>Joseph T Thayyil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6556" y="574134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esse-Group 3</a:t>
            </a:r>
          </a:p>
        </p:txBody>
      </p:sp>
    </p:spTree>
  </p:cSld>
  <p:clrMapOvr>
    <a:masterClrMapping/>
  </p:clrMapOvr>
  <p:transition spd="slow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DAHUzrGOv5M</dc:identifier>
  <dcterms:modified xsi:type="dcterms:W3CDTF">2011-08-01T06:04:30Z</dcterms:modified>
  <cp:revision>1</cp:revision>
  <dc:title>Group 3</dc:title>
</cp:coreProperties>
</file>